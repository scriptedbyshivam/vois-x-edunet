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429000"/>
            <a:ext cx="6390692" cy="861497"/>
          </a:xfrm>
        </p:spPr>
        <p:txBody>
          <a:bodyPr vert="horz" lIns="91440" tIns="45720" rIns="91440" bIns="45720" rtlCol="0" anchor="t">
            <a:normAutofit/>
          </a:bodyPr>
          <a:lstStyle/>
          <a:p>
            <a:r>
              <a:rPr lang="en-US" b="0" dirty="0">
                <a:solidFill>
                  <a:schemeClr val="tx1"/>
                </a:solidFill>
              </a:rPr>
              <a:t>Student Name –Shivam Maurya </a:t>
            </a:r>
            <a:endParaRPr lang="en-IN" b="0" dirty="0">
              <a:solidFill>
                <a:schemeClr val="tx1"/>
              </a:solidFill>
            </a:endParaRPr>
          </a:p>
          <a:p>
            <a:r>
              <a:rPr lang="en-US" b="0" dirty="0">
                <a:solidFill>
                  <a:schemeClr val="tx1"/>
                </a:solidFill>
              </a:rPr>
              <a:t>College Name- Arya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557318" cy="743448"/>
          </a:xfrm>
        </p:spPr>
        <p:txBody>
          <a:bodyPr>
            <a:normAutofit/>
          </a:bodyPr>
          <a:lstStyle/>
          <a:p>
            <a:r>
              <a:rPr lang="en-GB" dirty="0"/>
              <a:t>Project Title - </a:t>
            </a:r>
            <a:r>
              <a:rPr lang="en-IN"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94243"/>
            <a:ext cx="5378080" cy="369332"/>
          </a:xfrm>
          <a:prstGeom prst="rect">
            <a:avLst/>
          </a:prstGeom>
          <a:noFill/>
        </p:spPr>
        <p:txBody>
          <a:bodyPr wrap="square" rtlCol="0">
            <a:spAutoFit/>
          </a:bodyPr>
          <a:lstStyle/>
          <a:p>
            <a:r>
              <a:rPr lang="en-US" b="1" dirty="0"/>
              <a:t>AICTE STU ID : </a:t>
            </a:r>
            <a:r>
              <a:rPr lang="en-IN" b="1" dirty="0"/>
              <a:t>STU69ef58f1ec3ba1777293553</a:t>
            </a:r>
            <a:endParaRPr lang="en-US" b="1" dirty="0"/>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61289" y="1744927"/>
            <a:ext cx="7188917" cy="3508208"/>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analyse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024276"/>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7628E20-4BD4-5A91-945B-6D75C1AB033E}"/>
              </a:ext>
            </a:extLst>
          </p:cNvPr>
          <p:cNvSpPr txBox="1"/>
          <p:nvPr/>
        </p:nvSpPr>
        <p:spPr>
          <a:xfrm>
            <a:off x="467359" y="2147708"/>
            <a:ext cx="7930192" cy="3785652"/>
          </a:xfrm>
          <a:prstGeom prst="rect">
            <a:avLst/>
          </a:prstGeom>
          <a:noFill/>
        </p:spPr>
        <p:txBody>
          <a:bodyPr wrap="square" rtlCol="0">
            <a:spAutoFit/>
          </a:bodyPr>
          <a:lstStyle/>
          <a:p>
            <a:pPr marL="285750" indent="-285750">
              <a:buFont typeface="Wingdings" panose="05000000000000000000" pitchFamily="2" charset="2"/>
              <a:buChar char="§"/>
            </a:pPr>
            <a:r>
              <a:rPr lang="en-IN" sz="2000" dirty="0"/>
              <a:t>This project </a:t>
            </a:r>
            <a:r>
              <a:rPr lang="en-IN" sz="2000" dirty="0" err="1"/>
              <a:t>analyzes</a:t>
            </a:r>
            <a:r>
              <a:rPr lang="en-IN" sz="2000" dirty="0"/>
              <a:t> agricultural data across different seasons to identify patterns, trends, and variations in agricultural performance. The dataset includes information about farming practices, environmental conditions, crop production, resource usage, and economic outcomes.</a:t>
            </a:r>
          </a:p>
          <a:p>
            <a:pPr marL="285750" indent="-285750">
              <a:buFont typeface="Wingdings" panose="05000000000000000000" pitchFamily="2" charset="2"/>
              <a:buChar char="§"/>
            </a:pPr>
            <a:endParaRPr lang="en-IN" sz="2000" dirty="0"/>
          </a:p>
          <a:p>
            <a:pPr marL="285750" indent="-285750">
              <a:buFont typeface="Wingdings" panose="05000000000000000000" pitchFamily="2" charset="2"/>
              <a:buChar char="§"/>
            </a:pPr>
            <a:r>
              <a:rPr lang="en-IN" sz="2000" dirty="0"/>
              <a:t>The project involves data cleaning, exploratory data analysis, statistical analysis, and visualization to compare agricultural performance across seasons and identify important relationships and unusual patterns. The findings will be used to develop meaningful, evidence-based insights and recommendations for better seasonal agricultural planning.</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59"/>
            <a:ext cx="8245359" cy="3990023"/>
          </a:xfrm>
        </p:spPr>
        <p:txBody>
          <a:bodyPr>
            <a:noAutofit/>
          </a:bodyPr>
          <a:lstStyle/>
          <a:p>
            <a:pPr lvl="0"/>
            <a:r>
              <a:rPr lang="en-IN" b="1" dirty="0"/>
              <a:t>Farmers</a:t>
            </a:r>
            <a:r>
              <a:rPr lang="en-IN" dirty="0"/>
              <a:t> – For better seasonal farming decisions </a:t>
            </a:r>
          </a:p>
          <a:p>
            <a:pPr lvl="0"/>
            <a:r>
              <a:rPr lang="en-IN" b="1" dirty="0"/>
              <a:t>Agricultural Researchers</a:t>
            </a:r>
            <a:r>
              <a:rPr lang="en-IN" dirty="0"/>
              <a:t> – To study seasonal patterns and trends </a:t>
            </a:r>
          </a:p>
          <a:p>
            <a:pPr lvl="0"/>
            <a:r>
              <a:rPr lang="en-IN" b="1" dirty="0"/>
              <a:t>Government &amp; Agricultural Organizations</a:t>
            </a:r>
            <a:r>
              <a:rPr lang="en-IN" dirty="0"/>
              <a:t> – For data-driven agricultural planning </a:t>
            </a:r>
          </a:p>
          <a:p>
            <a:pPr lvl="0"/>
            <a:r>
              <a:rPr lang="en-IN" b="1" dirty="0"/>
              <a:t>Agricultural Planners</a:t>
            </a:r>
            <a:r>
              <a:rPr lang="en-IN" dirty="0"/>
              <a:t> – To support resource and crop planning</a:t>
            </a:r>
          </a:p>
          <a:p>
            <a:pPr lvl="0"/>
            <a:r>
              <a:rPr lang="en-IN" b="1" dirty="0"/>
              <a:t>Farm Cooperatives &amp; NGOs</a:t>
            </a:r>
            <a:r>
              <a:rPr lang="en-IN" dirty="0"/>
              <a:t> – To support farmers through data-driven insights </a:t>
            </a:r>
          </a:p>
          <a:p>
            <a:pPr lvl="0"/>
            <a:r>
              <a:rPr lang="en-IN" b="1" dirty="0"/>
              <a:t>Agricultural Businesses</a:t>
            </a:r>
            <a:r>
              <a:rPr lang="en-IN" dirty="0"/>
              <a:t> – To understand seasonal production and market trends</a:t>
            </a:r>
          </a:p>
          <a:p>
            <a:pPr lvl="0"/>
            <a:endParaRPr lang="en-IN" dirty="0"/>
          </a:p>
          <a:p>
            <a:pPr marL="0" indent="0" algn="just">
              <a:lnSpc>
                <a:spcPct val="150000"/>
              </a:lnSpc>
              <a:buNone/>
            </a:pP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12980" y="1385907"/>
            <a:ext cx="7763069" cy="2924836"/>
          </a:xfrm>
        </p:spPr>
        <p:txBody>
          <a:bodyPr/>
          <a:lstStyle/>
          <a:p>
            <a:pPr lvl="0"/>
            <a:r>
              <a:rPr lang="en-IN" b="1" dirty="0"/>
              <a:t>Python</a:t>
            </a:r>
            <a:r>
              <a:rPr lang="en-IN" dirty="0"/>
              <a:t> – Data Analysis &amp; Processing </a:t>
            </a:r>
          </a:p>
          <a:p>
            <a:pPr lvl="0"/>
            <a:r>
              <a:rPr lang="en-IN" b="1" dirty="0"/>
              <a:t>Pandas &amp; NumPy</a:t>
            </a:r>
            <a:r>
              <a:rPr lang="en-IN" dirty="0"/>
              <a:t> – Data Cleaning &amp; Analysis </a:t>
            </a:r>
          </a:p>
          <a:p>
            <a:pPr lvl="0"/>
            <a:r>
              <a:rPr lang="en-IN" b="1" dirty="0"/>
              <a:t>Matplotlib &amp; Seaborn</a:t>
            </a:r>
            <a:r>
              <a:rPr lang="en-IN" dirty="0"/>
              <a:t> – Data Visualization </a:t>
            </a:r>
          </a:p>
          <a:p>
            <a:pPr lvl="0"/>
            <a:r>
              <a:rPr lang="en-IN" b="1" dirty="0"/>
              <a:t>Jupyter Notebook</a:t>
            </a:r>
            <a:r>
              <a:rPr lang="en-IN" dirty="0"/>
              <a:t> – Analysis &amp; Documentation </a:t>
            </a:r>
          </a:p>
          <a:p>
            <a:pPr lvl="0"/>
            <a:r>
              <a:rPr lang="en-IN" b="1" dirty="0"/>
              <a:t>Statistical Analysis</a:t>
            </a:r>
            <a:r>
              <a:rPr lang="en-IN" dirty="0"/>
              <a:t> – Seasonal Comparison &amp; Insights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106C2EF-8C27-7038-E06B-89891E19F6D1}"/>
              </a:ext>
            </a:extLst>
          </p:cNvPr>
          <p:cNvSpPr txBox="1"/>
          <p:nvPr/>
        </p:nvSpPr>
        <p:spPr>
          <a:xfrm>
            <a:off x="521108" y="1432687"/>
            <a:ext cx="8367253" cy="3693319"/>
          </a:xfrm>
          <a:prstGeom prst="rect">
            <a:avLst/>
          </a:prstGeom>
          <a:noFill/>
        </p:spPr>
        <p:txBody>
          <a:bodyPr wrap="square" rtlCol="0">
            <a:spAutoFit/>
          </a:bodyPr>
          <a:lstStyle/>
          <a:p>
            <a:pPr marL="342900" lvl="0" indent="-342900">
              <a:buFont typeface="+mj-lt"/>
              <a:buAutoNum type="arabicPeriod"/>
            </a:pPr>
            <a:r>
              <a:rPr lang="en-IN" b="1" dirty="0"/>
              <a:t>Kharif</a:t>
            </a:r>
            <a:r>
              <a:rPr lang="en-IN" dirty="0"/>
              <a:t> recorded the highest average yield (</a:t>
            </a:r>
            <a:r>
              <a:rPr lang="en-IN" b="1" dirty="0"/>
              <a:t>5.63 tonnes/ha</a:t>
            </a:r>
            <a:r>
              <a:rPr lang="en-IN" dirty="0"/>
              <a:t>) but also the highest average water usage (</a:t>
            </a:r>
            <a:r>
              <a:rPr lang="en-IN" b="1" dirty="0"/>
              <a:t>6,102.20 m³</a:t>
            </a:r>
            <a:r>
              <a:rPr lang="en-IN" dirty="0"/>
              <a:t>). </a:t>
            </a:r>
          </a:p>
          <a:p>
            <a:pPr marL="342900" lvl="0" indent="-342900">
              <a:buFont typeface="+mj-lt"/>
              <a:buAutoNum type="arabicPeriod"/>
            </a:pPr>
            <a:r>
              <a:rPr lang="en-IN" b="1" dirty="0"/>
              <a:t>Zaid</a:t>
            </a:r>
            <a:r>
              <a:rPr lang="en-IN" dirty="0"/>
              <a:t> showed the highest average disease &amp; pest risk (</a:t>
            </a:r>
            <a:r>
              <a:rPr lang="en-IN" b="1" dirty="0"/>
              <a:t>52.01%</a:t>
            </a:r>
            <a:r>
              <a:rPr lang="en-IN" dirty="0"/>
              <a:t>) and the lowest water efficiency (</a:t>
            </a:r>
            <a:r>
              <a:rPr lang="en-IN" b="1" dirty="0"/>
              <a:t>4.41 tonnes/1,000 m³</a:t>
            </a:r>
            <a:r>
              <a:rPr lang="en-IN" dirty="0"/>
              <a:t>). </a:t>
            </a:r>
          </a:p>
          <a:p>
            <a:pPr marL="342900" lvl="0" indent="-342900">
              <a:buFont typeface="+mj-lt"/>
              <a:buAutoNum type="arabicPeriod"/>
            </a:pPr>
            <a:r>
              <a:rPr lang="en-IN" b="1" dirty="0"/>
              <a:t>Sugarcane</a:t>
            </a:r>
            <a:r>
              <a:rPr lang="en-IN" dirty="0"/>
              <a:t> achieved the highest average yield (</a:t>
            </a:r>
            <a:r>
              <a:rPr lang="en-IN" b="1" dirty="0"/>
              <a:t>46.64 tonnes/ha</a:t>
            </a:r>
            <a:r>
              <a:rPr lang="en-IN" dirty="0"/>
              <a:t>) and average profit (</a:t>
            </a:r>
            <a:r>
              <a:rPr lang="en-IN" b="1" dirty="0"/>
              <a:t>₹817,187.99</a:t>
            </a:r>
            <a:r>
              <a:rPr lang="en-IN" dirty="0"/>
              <a:t>). </a:t>
            </a:r>
          </a:p>
          <a:p>
            <a:pPr marL="342900" lvl="0" indent="-342900">
              <a:buFont typeface="+mj-lt"/>
              <a:buAutoNum type="arabicPeriod"/>
            </a:pPr>
            <a:r>
              <a:rPr lang="en-IN" b="1" dirty="0"/>
              <a:t>Drip irrigation</a:t>
            </a:r>
            <a:r>
              <a:rPr lang="en-IN" dirty="0"/>
              <a:t> recorded the highest average yield (</a:t>
            </a:r>
            <a:r>
              <a:rPr lang="en-IN" b="1" dirty="0"/>
              <a:t>6.58 tonnes/ha</a:t>
            </a:r>
            <a:r>
              <a:rPr lang="en-IN" dirty="0"/>
              <a:t>) among the irrigation methods </a:t>
            </a:r>
            <a:r>
              <a:rPr lang="en-IN" dirty="0" err="1"/>
              <a:t>analyzed</a:t>
            </a:r>
            <a:r>
              <a:rPr lang="en-IN" dirty="0"/>
              <a:t>. </a:t>
            </a:r>
          </a:p>
          <a:p>
            <a:pPr marL="342900" lvl="0" indent="-342900">
              <a:buFont typeface="+mj-lt"/>
              <a:buAutoNum type="arabicPeriod"/>
            </a:pPr>
            <a:r>
              <a:rPr lang="en-IN" dirty="0"/>
              <a:t>Profitability varied considerably across crops, with </a:t>
            </a:r>
            <a:r>
              <a:rPr lang="en-IN" b="1" dirty="0"/>
              <a:t>Wheat, Rice and Maize</a:t>
            </a:r>
            <a:r>
              <a:rPr lang="en-IN" dirty="0"/>
              <a:t> showing negative average profits. </a:t>
            </a:r>
          </a:p>
          <a:p>
            <a:pPr marL="342900" lvl="0" indent="-342900">
              <a:buFont typeface="+mj-lt"/>
              <a:buAutoNum type="arabicPeriod"/>
            </a:pPr>
            <a:r>
              <a:rPr lang="en-IN" dirty="0"/>
              <a:t>Overall, the analysis highlights the importance of </a:t>
            </a:r>
            <a:r>
              <a:rPr lang="en-IN" b="1" dirty="0"/>
              <a:t>crop selection, efficient irrigation, pest management, and seasonal resource planning</a:t>
            </a:r>
            <a:r>
              <a:rPr lang="en-IN" dirty="0"/>
              <a:t>.</a:t>
            </a:r>
          </a:p>
          <a:p>
            <a:pPr marL="342900" indent="-342900">
              <a:buFont typeface="+mj-lt"/>
              <a:buAutoNum type="arabicPeriod"/>
            </a:pPr>
            <a:endParaRPr lang="en-IN" dirty="0"/>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474938" y="1056389"/>
            <a:ext cx="10344367" cy="1372179"/>
          </a:xfrm>
        </p:spPr>
        <p:txBody>
          <a:bodyPr>
            <a:noAutofit/>
          </a:bodyPr>
          <a:lstStyle/>
          <a:p>
            <a:pPr lvl="0"/>
            <a:r>
              <a:rPr lang="en-IN" sz="1800" dirty="0"/>
              <a:t>Dataset was successfully loaded and </a:t>
            </a:r>
            <a:r>
              <a:rPr lang="en-IN" sz="1800" dirty="0" err="1"/>
              <a:t>analyzed</a:t>
            </a:r>
            <a:r>
              <a:rPr lang="en-IN" sz="1800" dirty="0"/>
              <a:t>. </a:t>
            </a:r>
          </a:p>
          <a:p>
            <a:pPr lvl="0"/>
            <a:r>
              <a:rPr lang="en-IN" sz="1800" dirty="0"/>
              <a:t>The dataset structure, dimensions, and data types were examined. </a:t>
            </a:r>
          </a:p>
          <a:p>
            <a:pPr lvl="0"/>
            <a:r>
              <a:rPr lang="en-IN" sz="1800" dirty="0"/>
              <a:t>Missing values and duplicate records were identified and handled before analysis.</a:t>
            </a:r>
          </a:p>
        </p:txBody>
      </p:sp>
      <p:pic>
        <p:nvPicPr>
          <p:cNvPr id="3" name="Picture 2">
            <a:extLst>
              <a:ext uri="{FF2B5EF4-FFF2-40B4-BE49-F238E27FC236}">
                <a16:creationId xmlns:a16="http://schemas.microsoft.com/office/drawing/2014/main" id="{743A8182-F01B-E6AD-3CD8-2ECEADBE48B4}"/>
              </a:ext>
            </a:extLst>
          </p:cNvPr>
          <p:cNvPicPr>
            <a:picLocks noChangeAspect="1"/>
          </p:cNvPicPr>
          <p:nvPr/>
        </p:nvPicPr>
        <p:blipFill>
          <a:blip r:embed="rId3"/>
          <a:stretch>
            <a:fillRect/>
          </a:stretch>
        </p:blipFill>
        <p:spPr>
          <a:xfrm>
            <a:off x="1269228" y="2223030"/>
            <a:ext cx="8755789" cy="4484001"/>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431693"/>
            <a:ext cx="4987461" cy="2119530"/>
          </a:xfrm>
        </p:spPr>
        <p:txBody>
          <a:bodyPr>
            <a:noAutofit/>
          </a:bodyPr>
          <a:lstStyle/>
          <a:p>
            <a:pPr lvl="0"/>
            <a:r>
              <a:rPr lang="en-IN" sz="1600" dirty="0"/>
              <a:t>Descriptive statistics were used to understand agricultural performance. </a:t>
            </a:r>
          </a:p>
          <a:p>
            <a:pPr lvl="0"/>
            <a:r>
              <a:rPr lang="en-IN" sz="1600" dirty="0"/>
              <a:t>Yield, profit, rainfall, water usage, and other variables were explored. </a:t>
            </a:r>
          </a:p>
          <a:p>
            <a:pPr lvl="0"/>
            <a:r>
              <a:rPr lang="en-IN" sz="1600" dirty="0"/>
              <a:t>Univariate and bivariate analysis helped identify important patterns and variations.</a:t>
            </a:r>
          </a:p>
        </p:txBody>
      </p:sp>
      <p:pic>
        <p:nvPicPr>
          <p:cNvPr id="3" name="Picture 2">
            <a:extLst>
              <a:ext uri="{FF2B5EF4-FFF2-40B4-BE49-F238E27FC236}">
                <a16:creationId xmlns:a16="http://schemas.microsoft.com/office/drawing/2014/main" id="{8DB47547-A7D4-0749-0D47-C0457B42FBFF}"/>
              </a:ext>
            </a:extLst>
          </p:cNvPr>
          <p:cNvPicPr>
            <a:picLocks noChangeAspect="1"/>
          </p:cNvPicPr>
          <p:nvPr/>
        </p:nvPicPr>
        <p:blipFill>
          <a:blip r:embed="rId3"/>
          <a:stretch>
            <a:fillRect/>
          </a:stretch>
        </p:blipFill>
        <p:spPr>
          <a:xfrm>
            <a:off x="208869" y="3338692"/>
            <a:ext cx="6077812" cy="3345760"/>
          </a:xfrm>
          <a:prstGeom prst="rect">
            <a:avLst/>
          </a:prstGeom>
        </p:spPr>
      </p:pic>
      <p:pic>
        <p:nvPicPr>
          <p:cNvPr id="9" name="Picture 8">
            <a:extLst>
              <a:ext uri="{FF2B5EF4-FFF2-40B4-BE49-F238E27FC236}">
                <a16:creationId xmlns:a16="http://schemas.microsoft.com/office/drawing/2014/main" id="{42DC60B3-2A23-0531-A061-6F35BB8DA0A6}"/>
              </a:ext>
            </a:extLst>
          </p:cNvPr>
          <p:cNvPicPr>
            <a:picLocks noChangeAspect="1"/>
          </p:cNvPicPr>
          <p:nvPr/>
        </p:nvPicPr>
        <p:blipFill>
          <a:blip r:embed="rId4"/>
          <a:stretch>
            <a:fillRect/>
          </a:stretch>
        </p:blipFill>
        <p:spPr>
          <a:xfrm>
            <a:off x="6392918" y="3338692"/>
            <a:ext cx="5585753" cy="3448348"/>
          </a:xfrm>
          <a:prstGeom prst="rect">
            <a:avLst/>
          </a:prstGeom>
        </p:spPr>
      </p:pic>
      <p:pic>
        <p:nvPicPr>
          <p:cNvPr id="12" name="Picture 11">
            <a:extLst>
              <a:ext uri="{FF2B5EF4-FFF2-40B4-BE49-F238E27FC236}">
                <a16:creationId xmlns:a16="http://schemas.microsoft.com/office/drawing/2014/main" id="{463AA99E-41BE-F5DB-FE6B-6C7E117D219A}"/>
              </a:ext>
            </a:extLst>
          </p:cNvPr>
          <p:cNvPicPr>
            <a:picLocks noChangeAspect="1"/>
          </p:cNvPicPr>
          <p:nvPr/>
        </p:nvPicPr>
        <p:blipFill>
          <a:blip r:embed="rId5"/>
          <a:stretch>
            <a:fillRect/>
          </a:stretch>
        </p:blipFill>
        <p:spPr>
          <a:xfrm>
            <a:off x="5794624" y="105921"/>
            <a:ext cx="6184047" cy="3138724"/>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466588" y="1201586"/>
            <a:ext cx="5754640" cy="1997308"/>
          </a:xfrm>
        </p:spPr>
        <p:txBody>
          <a:bodyPr>
            <a:noAutofit/>
          </a:bodyPr>
          <a:lstStyle/>
          <a:p>
            <a:pPr lvl="0"/>
            <a:r>
              <a:rPr lang="en-IN" sz="1600" dirty="0"/>
              <a:t>Seasonal analysis showed differences in yield, water usage, and risk. </a:t>
            </a:r>
          </a:p>
          <a:p>
            <a:pPr lvl="0"/>
            <a:r>
              <a:rPr lang="en-IN" sz="1600" dirty="0"/>
              <a:t>Kharif recorded the highest average yield, while Zaid showed higher pest risk. </a:t>
            </a:r>
          </a:p>
          <a:p>
            <a:pPr lvl="0"/>
            <a:r>
              <a:rPr lang="en-IN" sz="1600" dirty="0"/>
              <a:t>Correlation and multivariate analysis were used to understand relationships among agricultural variables. </a:t>
            </a:r>
          </a:p>
        </p:txBody>
      </p:sp>
      <p:pic>
        <p:nvPicPr>
          <p:cNvPr id="2" name="Picture 1">
            <a:extLst>
              <a:ext uri="{FF2B5EF4-FFF2-40B4-BE49-F238E27FC236}">
                <a16:creationId xmlns:a16="http://schemas.microsoft.com/office/drawing/2014/main" id="{D212ED97-E85E-2A82-934D-C8112248CE6F}"/>
              </a:ext>
            </a:extLst>
          </p:cNvPr>
          <p:cNvPicPr>
            <a:picLocks noChangeAspect="1"/>
          </p:cNvPicPr>
          <p:nvPr/>
        </p:nvPicPr>
        <p:blipFill>
          <a:blip r:embed="rId3"/>
          <a:stretch>
            <a:fillRect/>
          </a:stretch>
        </p:blipFill>
        <p:spPr>
          <a:xfrm>
            <a:off x="126715" y="3570865"/>
            <a:ext cx="6254420" cy="3174064"/>
          </a:xfrm>
          <a:prstGeom prst="rect">
            <a:avLst/>
          </a:prstGeom>
        </p:spPr>
      </p:pic>
      <p:pic>
        <p:nvPicPr>
          <p:cNvPr id="3" name="Picture 2">
            <a:extLst>
              <a:ext uri="{FF2B5EF4-FFF2-40B4-BE49-F238E27FC236}">
                <a16:creationId xmlns:a16="http://schemas.microsoft.com/office/drawing/2014/main" id="{C9458AA2-CE4E-2409-8176-BBCF91FE9704}"/>
              </a:ext>
            </a:extLst>
          </p:cNvPr>
          <p:cNvPicPr>
            <a:picLocks noChangeAspect="1"/>
          </p:cNvPicPr>
          <p:nvPr/>
        </p:nvPicPr>
        <p:blipFill>
          <a:blip r:embed="rId4"/>
          <a:stretch>
            <a:fillRect/>
          </a:stretch>
        </p:blipFill>
        <p:spPr>
          <a:xfrm>
            <a:off x="6430597" y="105697"/>
            <a:ext cx="5634688" cy="6639232"/>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99858" y="1362829"/>
            <a:ext cx="5508533" cy="1784184"/>
          </a:xfrm>
        </p:spPr>
        <p:txBody>
          <a:bodyPr>
            <a:noAutofit/>
          </a:bodyPr>
          <a:lstStyle/>
          <a:p>
            <a:pPr lvl="0"/>
            <a:r>
              <a:rPr lang="en-IN" sz="1600" b="1" dirty="0"/>
              <a:t>Drip irrigation</a:t>
            </a:r>
            <a:r>
              <a:rPr lang="en-IN" sz="1600" dirty="0"/>
              <a:t> recorded the highest average yield (</a:t>
            </a:r>
            <a:r>
              <a:rPr lang="en-IN" sz="1600" b="1" dirty="0"/>
              <a:t>6.58 tonnes/ha</a:t>
            </a:r>
            <a:r>
              <a:rPr lang="en-IN" sz="1600" dirty="0"/>
              <a:t>). </a:t>
            </a:r>
          </a:p>
          <a:p>
            <a:pPr lvl="0"/>
            <a:r>
              <a:rPr lang="en-IN" sz="1600" b="1" dirty="0"/>
              <a:t>Sugarcane</a:t>
            </a:r>
            <a:r>
              <a:rPr lang="en-IN" sz="1600" dirty="0"/>
              <a:t> showed the highest average yield (</a:t>
            </a:r>
            <a:r>
              <a:rPr lang="en-IN" sz="1600" b="1" dirty="0"/>
              <a:t>46.64 tonnes/ha</a:t>
            </a:r>
            <a:r>
              <a:rPr lang="en-IN" sz="1600" dirty="0"/>
              <a:t>) and average profit (</a:t>
            </a:r>
            <a:r>
              <a:rPr lang="en-IN" sz="1600" b="1" dirty="0"/>
              <a:t>₹817,187.99</a:t>
            </a:r>
            <a:r>
              <a:rPr lang="en-IN" sz="1600" dirty="0"/>
              <a:t>). </a:t>
            </a:r>
          </a:p>
          <a:p>
            <a:pPr lvl="0"/>
            <a:r>
              <a:rPr lang="en-IN" sz="1600" b="1" dirty="0"/>
              <a:t>Kharif</a:t>
            </a:r>
            <a:r>
              <a:rPr lang="en-IN" sz="1600" dirty="0"/>
              <a:t> had the highest average water efficiency (</a:t>
            </a:r>
            <a:r>
              <a:rPr lang="en-IN" sz="1600" b="1" dirty="0"/>
              <a:t>5.89 tonnes/1,000 m³</a:t>
            </a:r>
            <a:r>
              <a:rPr lang="en-IN" sz="1600" dirty="0"/>
              <a:t>). .</a:t>
            </a:r>
          </a:p>
        </p:txBody>
      </p:sp>
      <p:pic>
        <p:nvPicPr>
          <p:cNvPr id="3" name="Picture 2">
            <a:extLst>
              <a:ext uri="{FF2B5EF4-FFF2-40B4-BE49-F238E27FC236}">
                <a16:creationId xmlns:a16="http://schemas.microsoft.com/office/drawing/2014/main" id="{05C5DF5C-8995-7E20-27B5-C11DAC05F399}"/>
              </a:ext>
            </a:extLst>
          </p:cNvPr>
          <p:cNvPicPr>
            <a:picLocks noChangeAspect="1"/>
          </p:cNvPicPr>
          <p:nvPr/>
        </p:nvPicPr>
        <p:blipFill>
          <a:blip r:embed="rId3"/>
          <a:stretch>
            <a:fillRect/>
          </a:stretch>
        </p:blipFill>
        <p:spPr>
          <a:xfrm>
            <a:off x="320982" y="3497452"/>
            <a:ext cx="10897624" cy="3230627"/>
          </a:xfrm>
          <a:prstGeom prst="rect">
            <a:avLst/>
          </a:prstGeom>
        </p:spPr>
      </p:pic>
      <p:pic>
        <p:nvPicPr>
          <p:cNvPr id="6" name="Picture 5">
            <a:extLst>
              <a:ext uri="{FF2B5EF4-FFF2-40B4-BE49-F238E27FC236}">
                <a16:creationId xmlns:a16="http://schemas.microsoft.com/office/drawing/2014/main" id="{D162DB0D-557B-F716-D086-773D66CBA05E}"/>
              </a:ext>
            </a:extLst>
          </p:cNvPr>
          <p:cNvPicPr>
            <a:picLocks noChangeAspect="1"/>
          </p:cNvPicPr>
          <p:nvPr/>
        </p:nvPicPr>
        <p:blipFill>
          <a:blip r:embed="rId4"/>
          <a:stretch>
            <a:fillRect/>
          </a:stretch>
        </p:blipFill>
        <p:spPr>
          <a:xfrm>
            <a:off x="5774740" y="69807"/>
            <a:ext cx="6160351" cy="3353860"/>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D60E151-82FD-2F25-48A0-738D870BE8E0}"/>
              </a:ext>
            </a:extLst>
          </p:cNvPr>
          <p:cNvSpPr txBox="1"/>
          <p:nvPr/>
        </p:nvSpPr>
        <p:spPr>
          <a:xfrm>
            <a:off x="675957" y="1405359"/>
            <a:ext cx="9205462" cy="3693319"/>
          </a:xfrm>
          <a:prstGeom prst="rect">
            <a:avLst/>
          </a:prstGeom>
          <a:noFill/>
        </p:spPr>
        <p:txBody>
          <a:bodyPr wrap="square" rtlCol="0">
            <a:spAutoFit/>
          </a:bodyPr>
          <a:lstStyle/>
          <a:p>
            <a:pPr marL="342900" lvl="0" indent="-342900">
              <a:buFont typeface="+mj-lt"/>
              <a:buAutoNum type="arabicPeriod"/>
            </a:pPr>
            <a:r>
              <a:rPr lang="en-IN" dirty="0"/>
              <a:t>Integrate </a:t>
            </a:r>
            <a:r>
              <a:rPr lang="en-IN" b="1" dirty="0"/>
              <a:t>real-time weather and market-price data</a:t>
            </a:r>
            <a:r>
              <a:rPr lang="en-IN" dirty="0"/>
              <a:t> for more accurate agricultural analysis. </a:t>
            </a:r>
          </a:p>
          <a:p>
            <a:pPr marL="342900" lvl="0" indent="-342900">
              <a:buFont typeface="+mj-lt"/>
              <a:buAutoNum type="arabicPeriod"/>
            </a:pPr>
            <a:r>
              <a:rPr lang="en-IN" dirty="0"/>
              <a:t>Use </a:t>
            </a:r>
            <a:r>
              <a:rPr lang="en-IN" b="1" dirty="0"/>
              <a:t>machine learning models</a:t>
            </a:r>
            <a:r>
              <a:rPr lang="en-IN" dirty="0"/>
              <a:t> to predict crop yield, profitability, and disease/pest risk. </a:t>
            </a:r>
          </a:p>
          <a:p>
            <a:pPr marL="342900" lvl="0" indent="-342900">
              <a:buFont typeface="+mj-lt"/>
              <a:buAutoNum type="arabicPeriod"/>
            </a:pPr>
            <a:r>
              <a:rPr lang="en-IN" dirty="0"/>
              <a:t>Expand the dataset with </a:t>
            </a:r>
            <a:r>
              <a:rPr lang="en-IN" b="1" dirty="0"/>
              <a:t>more regions, crops, and multiple years</a:t>
            </a:r>
            <a:r>
              <a:rPr lang="en-IN" dirty="0"/>
              <a:t> to improve reliability. </a:t>
            </a:r>
          </a:p>
          <a:p>
            <a:pPr marL="342900" lvl="0" indent="-342900">
              <a:buFont typeface="+mj-lt"/>
              <a:buAutoNum type="arabicPeriod"/>
            </a:pPr>
            <a:r>
              <a:rPr lang="en-IN" dirty="0"/>
              <a:t>Develop a </a:t>
            </a:r>
            <a:r>
              <a:rPr lang="en-IN" b="1" dirty="0"/>
              <a:t>real-time agricultural dashboard</a:t>
            </a:r>
            <a:r>
              <a:rPr lang="en-IN" dirty="0"/>
              <a:t> for farmers and planners to monitor key indicators. </a:t>
            </a:r>
          </a:p>
          <a:p>
            <a:pPr marL="342900" lvl="0" indent="-342900">
              <a:buFont typeface="+mj-lt"/>
              <a:buAutoNum type="arabicPeriod"/>
            </a:pPr>
            <a:r>
              <a:rPr lang="en-IN" dirty="0"/>
              <a:t>Include detailed </a:t>
            </a:r>
            <a:r>
              <a:rPr lang="en-IN" b="1" dirty="0"/>
              <a:t>soil, rainfall, irrigation, and resource-use data</a:t>
            </a:r>
            <a:r>
              <a:rPr lang="en-IN" dirty="0"/>
              <a:t> for deeper analysis. </a:t>
            </a:r>
          </a:p>
          <a:p>
            <a:pPr marL="342900" lvl="0" indent="-342900">
              <a:buFont typeface="+mj-lt"/>
              <a:buAutoNum type="arabicPeriod"/>
            </a:pPr>
            <a:r>
              <a:rPr lang="en-IN" dirty="0"/>
              <a:t>Build a </a:t>
            </a:r>
            <a:r>
              <a:rPr lang="en-IN" b="1" dirty="0"/>
              <a:t>decision-support system</a:t>
            </a:r>
            <a:r>
              <a:rPr lang="en-IN" dirty="0"/>
              <a:t> to recommend suitable crops, irrigation methods, and resource allocation.</a:t>
            </a:r>
          </a:p>
          <a:p>
            <a:pPr marL="342900" indent="-342900">
              <a:buFont typeface="+mj-lt"/>
              <a:buAutoNum type="arabicPeriod"/>
            </a:pPr>
            <a:endParaRPr lang="en-IN" dirty="0"/>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t>https://github.com/scriptedbyshivam/vois-x-edunet</a:t>
            </a: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4668B9E-25B3-43C0-EB40-87113C3FEABA}"/>
              </a:ext>
            </a:extLst>
          </p:cNvPr>
          <p:cNvPicPr>
            <a:picLocks noChangeAspect="1"/>
          </p:cNvPicPr>
          <p:nvPr/>
        </p:nvPicPr>
        <p:blipFill>
          <a:blip r:embed="rId3"/>
          <a:stretch>
            <a:fillRect/>
          </a:stretch>
        </p:blipFill>
        <p:spPr>
          <a:xfrm>
            <a:off x="2239347" y="1381910"/>
            <a:ext cx="7333474" cy="5186530"/>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843113"/>
            <a:ext cx="11340000" cy="700114"/>
          </a:xfrm>
          <a:prstGeom prst="rect">
            <a:avLst/>
          </a:prstGeom>
        </p:spPr>
        <p:txBody>
          <a:bodyPr anchor="ctr">
            <a:noAutofit/>
          </a:bodyPr>
          <a:lstStyle/>
          <a:p>
            <a:pPr algn="ctr"/>
            <a:r>
              <a:rPr lang="en-US" sz="72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4041</TotalTime>
  <Words>705</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Shivam Maurya</cp:lastModifiedBy>
  <cp:revision>100</cp:revision>
  <dcterms:created xsi:type="dcterms:W3CDTF">2021-07-11T13:13:15Z</dcterms:created>
  <dcterms:modified xsi:type="dcterms:W3CDTF">2026-09-11T20:25:04Z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